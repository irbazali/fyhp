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12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12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7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12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20" Type="http://schemas.openxmlformats.org/officeDocument/2006/relationships/image" Target="../media/image6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7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12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9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12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Relationship Id="rId16" Type="http://schemas.openxmlformats.org/officeDocument/2006/relationships/image" Target="../media/image8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69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12.png"/><Relationship Id="rId9" Type="http://schemas.openxmlformats.org/officeDocument/2006/relationships/image" Target="../media/image90.png"/><Relationship Id="rId10" Type="http://schemas.openxmlformats.org/officeDocument/2006/relationships/image" Target="../media/image91.png"/><Relationship Id="rId11" Type="http://schemas.openxmlformats.org/officeDocument/2006/relationships/image" Target="../media/image92.png"/><Relationship Id="rId12" Type="http://schemas.openxmlformats.org/officeDocument/2006/relationships/image" Target="../media/image93.png"/><Relationship Id="rId13" Type="http://schemas.openxmlformats.org/officeDocument/2006/relationships/image" Target="../media/image94.png"/><Relationship Id="rId14" Type="http://schemas.openxmlformats.org/officeDocument/2006/relationships/image" Target="../media/image95.png"/><Relationship Id="rId15" Type="http://schemas.openxmlformats.org/officeDocument/2006/relationships/image" Target="../media/image9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581650"/>
            <a:ext cx="11239500" cy="704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975" y="571500"/>
            <a:ext cx="277177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442245"/>
            <a:ext cx="11239500" cy="819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614362"/>
            <a:ext cx="35052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FAST School of Computing • NUCES Islamabad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2329904"/>
            <a:ext cx="117157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0F172A"/>
                </a:solidFill>
                <a:latin typeface="Plus Jakarta Sans ExtraBold"/>
              </a:rPr>
              <a:t>Localized Offline Urdu (Nastaliq)</a:t>
            </a:r>
            <a:r>
              <a:t>
</a:t>
            </a:r>
            <a:r>
              <a:rPr b="0" sz="3150" i="0" u="none">
                <a:solidFill>
                  <a:srgbClr val="0E7490"/>
                </a:solidFill>
                <a:latin typeface="Plus Jakarta Sans ExtraBold"/>
              </a:rPr>
              <a:t>Handwritten Ledger Digitization</a:t>
            </a:r>
            <a:r>
              <a:rPr b="0" sz="3150" i="0" u="none">
                <a:solidFill>
                  <a:srgbClr val="0F172A"/>
                </a:solidFill>
                <a:latin typeface="Plus Jakarta Sans ExtraBold"/>
              </a:rPr>
              <a:t> &amp; Auditing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3875" y="5762625"/>
            <a:ext cx="3333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Sir Irfanullah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Project Supervisor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3375" y="5762625"/>
            <a:ext cx="19050" cy="3429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4375" y="3594645"/>
            <a:ext cx="10810875" cy="51435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E293B"/>
                </a:solidFill>
                <a:latin typeface="Plus Jakarta Sans SemiBold"/>
              </a:rPr>
              <a:t>Problem: Digitize unconstrained handwritten Urdu Khatas accurately and auditably without transmitting sensitive commercial records to third-party cloud infrastructure.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5762625"/>
            <a:ext cx="82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Talal Shahid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23i-0594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1650" y="5762625"/>
            <a:ext cx="60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Irbaz Ali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23i-2075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9850" y="5762625"/>
            <a:ext cx="13906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Muhammad Ibrahim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23i-2533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651795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486667"/>
            <a:ext cx="18288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203549"/>
            <a:ext cx="5467350" cy="985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360836"/>
            <a:ext cx="5467350" cy="9858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518124"/>
            <a:ext cx="5467350" cy="9858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998761"/>
            <a:ext cx="546735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56388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02 • Operational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571500"/>
            <a:ext cx="5920740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Problem &amp; Target Users in Wholesale Khatas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9825" y="567630"/>
            <a:ext cx="10477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8400" y="5523011"/>
            <a:ext cx="54673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1" u="none">
                <a:solidFill>
                  <a:srgbClr val="64748B"/>
                </a:solidFill>
                <a:latin typeface="Plus Jakarta Sans"/>
              </a:rPr>
              <a:t>Target Environment: Traditional wholesale markets with offline, paper-centric bookkeeping.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2355949"/>
            <a:ext cx="5380672" cy="209550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Who is Affected?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622649"/>
            <a:ext cx="51244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Plus Jakarta Sans"/>
              </a:rPr>
              <a:t>Wholesale market traders, grain/cloth dealers, and bookkeepers (Munshis) recording high-velocity daily transactions manually in paper Khatas.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513236"/>
            <a:ext cx="5380672" cy="2095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The Current Bottleneck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779936"/>
            <a:ext cx="51244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Plus Jakarta Sans"/>
              </a:rPr>
              <a:t>Handwritten logs → manual ledger reconciliation → manual calculation of debit/credit tallies → human transcription errors causing revenue leaks.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4670524"/>
            <a:ext cx="5380672" cy="2095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The Privacy Impasse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937224"/>
            <a:ext cx="51244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Plus Jakarta Sans"/>
              </a:rPr>
              <a:t>Merchants actively refuse cloud SaaS apps (DigiKhata, Udhaar) due to commercial confidentiality and fear of third-party data aggregation.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925" y="2008286"/>
            <a:ext cx="5448300" cy="3409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2384524"/>
            <a:ext cx="2000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3541811"/>
            <a:ext cx="1619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4699099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486667"/>
            <a:ext cx="18288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965424"/>
            <a:ext cx="11239500" cy="2847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381000"/>
            <a:ext cx="56769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03 • Benchmark &amp;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571500"/>
            <a:ext cx="5960745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Solution Landscape &amp; Structural Limitations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825" y="567630"/>
            <a:ext cx="104775" cy="1238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5775" y="1974949"/>
          <a:ext cx="11220449" cy="2828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68463"/>
                <a:gridCol w="2917180"/>
                <a:gridCol w="2917180"/>
                <a:gridCol w="2917626"/>
              </a:tblGrid>
              <a:tr h="707231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Existing Paradigm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Core Technical 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Evidenced Failure Modes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Our System Architectural Advantage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0723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Local Digital Khatas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(EasyKhata, Udhaar)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Manual CRUD entry + centralized cloud DB 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Zero OCR Automation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100% manual typing; leaks commercial turnover to cloud servers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100% Offline Sovereignty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Computer vision automated tabular entry at local edge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723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Cloud OCR APIs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(Google Vision, AWS Textract)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Generalized deep learning text recognition models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Nastaliq Failure (&lt;60%)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Outputs unstructured strings without preserving debit/credit links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Domain-Constrained HTR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Cell-level segmentation tailored for cursive Urdu ligatures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723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Enterprise ERPs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(QuickBooks, SAP)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Latin-centric OCR + fixed rule accounting engines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Script Incompatibility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Cannot ingest variable Pakistani merchant register conventions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Khata Register Awareness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Engineered around traditional bilateral account formats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5277742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7275" y="5184874"/>
            <a:ext cx="104584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0C4A6E"/>
                </a:solidFill>
                <a:latin typeface="Plus Jakarta Sans"/>
              </a:rPr>
              <a:t>The Core Gap:</a:t>
            </a:r>
            <a:r>
              <a:rPr b="0" sz="1087" i="0" u="none">
                <a:solidFill>
                  <a:srgbClr val="0C4A6E"/>
                </a:solidFill>
                <a:latin typeface="Plus Jakarta Sans"/>
              </a:rPr>
              <a:t> Localization alone is not sufficient. Offline execution mandates quantized edge inference, strict tabular reconstruction, and tamper-evident local auditability.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775" y="3198911"/>
            <a:ext cx="2468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4238" y="3198911"/>
            <a:ext cx="291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71418" y="3198911"/>
            <a:ext cx="291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88598" y="3198911"/>
            <a:ext cx="2917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5775" y="3999011"/>
            <a:ext cx="2468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54238" y="3999011"/>
            <a:ext cx="291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71418" y="3999011"/>
            <a:ext cx="291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88598" y="3999011"/>
            <a:ext cx="2917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2868" y="2536924"/>
            <a:ext cx="13716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0048" y="2536924"/>
            <a:ext cx="16002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2868" y="3337024"/>
            <a:ext cx="145732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0048" y="3337024"/>
            <a:ext cx="157162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2868" y="4137124"/>
            <a:ext cx="1343025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0048" y="4137124"/>
            <a:ext cx="15811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486667"/>
            <a:ext cx="18288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292846"/>
            <a:ext cx="3594050" cy="24836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00" y="2292846"/>
            <a:ext cx="3594050" cy="24836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550" y="2292846"/>
            <a:ext cx="3594199" cy="24836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6276975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04 • Technical Grounding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5005089"/>
            <a:ext cx="11239500" cy="4095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571500"/>
            <a:ext cx="6590823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R&amp;D Foundation: Preprocessing, HTR &amp; Security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9825" y="567630"/>
            <a:ext cx="10477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225" y="5128914"/>
            <a:ext cx="2457450" cy="1619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34155"/>
                </a:solidFill>
                <a:latin typeface="Plus Jakarta Sans"/>
              </a:rPr>
              <a:t>Academic Tool Boundary Disclosure: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6875" y="5133677"/>
            <a:ext cx="6057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TrOCR Base Weights (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Core-Assist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) • Custom Segmentation &amp; Verification Engine (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Student-Owned CCP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2530971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3159621"/>
            <a:ext cx="32736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Computer Vision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3502521"/>
            <a:ext cx="31178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Plus Jakarta Sans"/>
              </a:rPr>
              <a:t>OpenCV Perspective Invariance:</a:t>
            </a:r>
            <a:r>
              <a:rPr b="0" sz="1087" i="0" u="none">
                <a:solidFill>
                  <a:srgbClr val="475569"/>
                </a:solidFill>
                <a:latin typeface="Plus Jakarta Sans"/>
              </a:rPr>
              <a:t> Four-point contour detection, Otsu adaptive binarization, and morphological projection profiles to isolate warped tabular cells.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7025" y="2530971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37025" y="3159621"/>
            <a:ext cx="32736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HTR Sequence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7025" y="3502521"/>
            <a:ext cx="31178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Plus Jakarta Sans"/>
              </a:rPr>
              <a:t>TrOCR &amp; CRNN Architecture:</a:t>
            </a:r>
            <a:r>
              <a:rPr b="0" sz="1087" i="0" u="none">
                <a:solidFill>
                  <a:srgbClr val="475569"/>
                </a:solidFill>
                <a:latin typeface="Plus Jakarta Sans"/>
              </a:rPr>
              <a:t> Vision Transformer encoder with autoregressive language model decoder, constrained by localized Urdu vocabulary and numeral dictionaries.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9675" y="2530971"/>
            <a:ext cx="514350" cy="514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59675" y="3159621"/>
            <a:ext cx="32738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Tamper-Proof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9675" y="3502521"/>
            <a:ext cx="3117949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Plus Jakarta Sans"/>
              </a:rPr>
              <a:t>Row-Level HMAC Signatures:</a:t>
            </a:r>
            <a:r>
              <a:rPr b="0" sz="1087" i="0" u="none">
                <a:solidFill>
                  <a:srgbClr val="475569"/>
                </a:solidFill>
                <a:latin typeface="Plus Jakarta Sans"/>
              </a:rPr>
              <a:t> SHA-256 hash chains with append-only PostgreSQL triggers to guarantee internal fraud prevention without overhead of a full blockchain.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5157489"/>
            <a:ext cx="114300" cy="12858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2654796"/>
            <a:ext cx="266700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0850" y="2654796"/>
            <a:ext cx="266700" cy="2667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97788" y="2654796"/>
            <a:ext cx="23812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486667"/>
            <a:ext cx="15906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44055"/>
            <a:ext cx="552450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44055"/>
            <a:ext cx="5524500" cy="131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949005"/>
            <a:ext cx="5524500" cy="1314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949005"/>
            <a:ext cx="5524500" cy="1314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6353175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05 • Seoul Accord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571500"/>
            <a:ext cx="6670833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Complex Computing Problem (CCP) Justification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7950" y="567630"/>
            <a:ext cx="10477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2958405"/>
            <a:ext cx="5124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Heavy transformer-based sequence inference must execute entirely on local, mid-tier shopkeeper PCs without cloud offloading or external GPU clusters.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75" y="2958405"/>
            <a:ext cx="5124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Urdu Nastaliq features diagonal cascading ligatures and high character overlap. Off-the-shelf Latin/printed OCR frameworks fail catastrophically on handwritten Khatas.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4463355"/>
            <a:ext cx="5124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Financial mutations cannot tolerate OCR hallucinations. System enforces a statistical confidence gate that intercepts low-probability predictions before database commits.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4463355"/>
            <a:ext cx="5124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Addresses unauthorized alterations by internal operators (Munshis) through immutable cryptographic hash chains and strict role-based access control (RBAC).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2644080"/>
            <a:ext cx="838200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09725" y="2648842"/>
            <a:ext cx="207025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Conflicting Requirements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2644080"/>
            <a:ext cx="857250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43775" y="2648842"/>
            <a:ext cx="214026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Beyond Standard Practice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4149030"/>
            <a:ext cx="857250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28775" y="4153792"/>
            <a:ext cx="254031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Zero Financial Defect Tolerance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4149030"/>
            <a:ext cx="866775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53300" y="4153792"/>
            <a:ext cx="272034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Insider Tamper-Proof Auditability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486667"/>
            <a:ext cx="15906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75011"/>
            <a:ext cx="11239500" cy="1495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99036"/>
            <a:ext cx="11239500" cy="1033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573405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06 • System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571500"/>
            <a:ext cx="6020752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End-to-End System Pipeline &amp; Architecture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950" y="567630"/>
            <a:ext cx="104775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2798861"/>
            <a:ext cx="1238250" cy="8477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9290" y="3136999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6455" y="2713136"/>
            <a:ext cx="1238250" cy="1019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9470" y="3136999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6635" y="2798861"/>
            <a:ext cx="1238250" cy="8477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651" y="3136999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6816" y="2713136"/>
            <a:ext cx="1238250" cy="1019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9831" y="3136999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6996" y="2798861"/>
            <a:ext cx="1238250" cy="8477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012" y="3136999"/>
            <a:ext cx="1524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77177" y="2798861"/>
            <a:ext cx="1238250" cy="8477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4375" y="4380011"/>
            <a:ext cx="11301412" cy="2000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Formal Engineering Contribution Statement: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4637186"/>
            <a:ext cx="107632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An offline-first financial digitization pipeline uniting </a:t>
            </a:r>
            <a:r>
              <a:rPr b="1" sz="1087" i="0" u="none">
                <a:solidFill>
                  <a:srgbClr val="334155"/>
                </a:solidFill>
                <a:latin typeface="Plus Jakarta Sans"/>
              </a:rPr>
              <a:t>perspective-invariant Urdu tabular cell segmentation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1" sz="1087" i="0" u="none">
                <a:solidFill>
                  <a:srgbClr val="334155"/>
                </a:solidFill>
                <a:latin typeface="Plus Jakarta Sans"/>
              </a:rPr>
              <a:t>domain-constrained HTR sequence modeling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1" sz="1087" i="0" u="none">
                <a:solidFill>
                  <a:srgbClr val="334155"/>
                </a:solidFill>
                <a:latin typeface="Plus Jakarta Sans"/>
              </a:rPr>
              <a:t>cryptographic row-level HMAC auditing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, and a </a:t>
            </a:r>
            <a:r>
              <a:rPr b="1" sz="1087" i="0" u="none">
                <a:solidFill>
                  <a:srgbClr val="334155"/>
                </a:solidFill>
                <a:latin typeface="Plus Jakarta Sans"/>
              </a:rPr>
              <a:t>HITL verification feedback loop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 that enables continual local transfer learning on merchant handwriting.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0150" y="2941736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2500" y="3189386"/>
            <a:ext cx="68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Raw Photo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20330" y="2856011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01230" y="3103661"/>
            <a:ext cx="102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OpenCV Preproc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0510" y="2941736"/>
            <a:ext cx="19050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78573" y="3189386"/>
            <a:ext cx="7143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HTR Engine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60691" y="2856011"/>
            <a:ext cx="19050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41591" y="3103661"/>
            <a:ext cx="102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Plus Jakarta Sans"/>
              </a:rPr>
              <a:t>Confidence Gate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7059" y="2941736"/>
            <a:ext cx="238125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28459" y="3189386"/>
            <a:ext cx="6953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Plus Jakarta Sans"/>
              </a:rPr>
              <a:t>HITL Verify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01052" y="2941736"/>
            <a:ext cx="190500" cy="190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439102" y="3189386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HMAC &amp; Audit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4375" y="4408586"/>
            <a:ext cx="1143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486667"/>
            <a:ext cx="15906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964233"/>
            <a:ext cx="5467350" cy="3524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190452"/>
            <a:ext cx="5467350" cy="9667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309639"/>
            <a:ext cx="5467350" cy="11596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4621708"/>
            <a:ext cx="5467350" cy="895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6257925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07 • Proposal Feasibility Spike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571500"/>
            <a:ext cx="6570821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POC Evidence: Real Ledger Preprocessing Spike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7950" y="567630"/>
            <a:ext cx="10477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5564683"/>
            <a:ext cx="5467350" cy="178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b="0" sz="937" i="0" u="none">
                <a:solidFill>
                  <a:srgbClr val="64748B"/>
                </a:solidFill>
                <a:latin typeface="Plus Jakarta Sans"/>
              </a:rPr>
              <a:t>Unconstrained Physical Khata (Faded ink, slanted text, phone capture)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1973758"/>
            <a:ext cx="5448300" cy="3505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0325" y="2352377"/>
            <a:ext cx="5400675" cy="2000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91B1B"/>
                </a:solidFill>
                <a:latin typeface="Plus Jakarta Sans ExtraBold"/>
              </a:rPr>
              <a:t>Tested Risk: Generic OCR Catastrophic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2609552"/>
            <a:ext cx="5143500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7F1D1D"/>
                </a:solidFill>
                <a:latin typeface="Plus Jakarta Sans"/>
              </a:rPr>
              <a:t>Feeding this un-flattened image directly into off-the-shelf OCR engines results in 100% garbage text tokens and total loss of debit/credit columnar association.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471564"/>
            <a:ext cx="5400675" cy="2000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66534"/>
                </a:solidFill>
                <a:latin typeface="Plus Jakarta Sans ExtraBold"/>
              </a:rPr>
              <a:t>Technical Spike Demonstrated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3728739"/>
            <a:ext cx="5143500" cy="578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14532D"/>
                </a:solidFill>
                <a:latin typeface="Plus Jakarta Sans"/>
              </a:rPr>
              <a:t>OpenCV contour alignment isolates tabular rows, deskews lines, and extracts bounding-box cell crops, providing high-contrast localized segments for the HTR engine.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802683"/>
            <a:ext cx="2076450" cy="152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Architectural Decision Justified: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5002708"/>
            <a:ext cx="51054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Confirms that HTR must operate on pre-segmented tabular cells paired with confidence scoring to prevent incorrect financial mutations.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2380952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3500139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4821733"/>
            <a:ext cx="9525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5" y="486667"/>
            <a:ext cx="23336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672780"/>
            <a:ext cx="11239500" cy="1733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301180"/>
            <a:ext cx="3619500" cy="1181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2301180"/>
            <a:ext cx="3619500" cy="1181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2301180"/>
            <a:ext cx="3619500" cy="1181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50673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08 • Rigorous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571500"/>
            <a:ext cx="5320665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Evaluation Metrics &amp; RAID Risk Register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567630"/>
            <a:ext cx="104775" cy="123825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5775" y="3682305"/>
          <a:ext cx="11220448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82948"/>
                <a:gridCol w="4488060"/>
                <a:gridCol w="5049440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Risk Factor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Identified Failure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Engineered Mitigation Strategy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Column Drift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Missing bounding lines causing debit/credit swap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Vertical projection profile analysis to lock spatial coordinates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Operator Fatigue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 rejection rate overwhelming user during verification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Continuous local fine-tuning loop adapts to shopkeeper handwriting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Munshi Overreach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Bookkeepers with administrative credentials altering past 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Strict Role-Based Access Control (RBAC) + tamper-evident HMAC chains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6275" y="2501205"/>
            <a:ext cx="3219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E7490"/>
                </a:solidFill>
                <a:latin typeface="JetBrains Mono ExtraBold"/>
              </a:rPr>
              <a:t>&lt; 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920305"/>
            <a:ext cx="3219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Character &amp; Word Error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3129855"/>
            <a:ext cx="3219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37" i="0" u="none">
                <a:solidFill>
                  <a:srgbClr val="64748B"/>
                </a:solidFill>
                <a:latin typeface="Plus Jakarta Sans"/>
              </a:rPr>
              <a:t>CER / WER across currency &amp;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275" y="2501205"/>
            <a:ext cx="3219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E7490"/>
                </a:solidFill>
                <a:latin typeface="JetBrains Mono ExtraBold"/>
              </a:rPr>
              <a:t>98%+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75" y="2920305"/>
            <a:ext cx="3219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Confidence-Rejection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275" y="3129855"/>
            <a:ext cx="3219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37" i="0" u="none">
                <a:solidFill>
                  <a:srgbClr val="64748B"/>
                </a:solidFill>
                <a:latin typeface="Plus Jakarta Sans"/>
              </a:rPr>
              <a:t>Low-confidence threshold catches bad 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275" y="2501205"/>
            <a:ext cx="3219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E7490"/>
                </a:solidFill>
                <a:latin typeface="JetBrains Mono ExtraBold"/>
              </a:rPr>
              <a:t>3.5x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275" y="2920305"/>
            <a:ext cx="3219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Task Efficiency Speedup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5" y="3129855"/>
            <a:ext cx="3219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37" i="0" u="none">
                <a:solidFill>
                  <a:srgbClr val="64748B"/>
                </a:solidFill>
                <a:latin typeface="Plus Jakarta Sans"/>
              </a:rPr>
              <a:t>Scan &amp; verify 50 rows vs manual entry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775" y="4534792"/>
            <a:ext cx="16829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68723" y="4534792"/>
            <a:ext cx="4488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56784" y="4534792"/>
            <a:ext cx="504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5775" y="4963417"/>
            <a:ext cx="16829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68723" y="4963417"/>
            <a:ext cx="4488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56784" y="4963417"/>
            <a:ext cx="504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5" y="486667"/>
            <a:ext cx="23336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44005"/>
            <a:ext cx="3619500" cy="2952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044005"/>
            <a:ext cx="3619500" cy="2952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2044005"/>
            <a:ext cx="3619500" cy="2952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5168205"/>
            <a:ext cx="215637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6920" y="5168205"/>
            <a:ext cx="2156519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7740" y="5168205"/>
            <a:ext cx="215637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410" y="5168205"/>
            <a:ext cx="2156519" cy="495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9230" y="5168205"/>
            <a:ext cx="215637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381000"/>
            <a:ext cx="4810125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09 • Work Division &amp;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571500"/>
            <a:ext cx="5050631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Team Ownership Matrix &amp; Milestones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0" y="567630"/>
            <a:ext cx="104775" cy="123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272980"/>
            <a:ext cx="194682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FFFFFF"/>
                </a:solidFill>
                <a:latin typeface="Plus Jakarta Sans ExtraBold"/>
              </a:rPr>
              <a:t>GATE 1 •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5415855"/>
            <a:ext cx="194682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FFFFFF"/>
                </a:solidFill>
                <a:latin typeface="Plus Jakarta Sans SemiBold"/>
              </a:rPr>
              <a:t>Feasibility Spike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1695" y="5272980"/>
            <a:ext cx="1946969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0E7490"/>
                </a:solidFill>
                <a:latin typeface="Plus Jakarta Sans ExtraBold"/>
              </a:rPr>
              <a:t>GATES 2 &amp; 3 • MID-1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1695" y="5415855"/>
            <a:ext cx="194696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Plus Jakarta Sans SemiBold"/>
              </a:rPr>
              <a:t>SRS/SDS + Base TrOCR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2515" y="5272980"/>
            <a:ext cx="194682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0E7490"/>
                </a:solidFill>
                <a:latin typeface="Plus Jakarta Sans ExtraBold"/>
              </a:rPr>
              <a:t>GATE • FINAL-1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2515" y="5415855"/>
            <a:ext cx="194682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Plus Jakarta Sans SemiBold"/>
              </a:rPr>
              <a:t>End-to-End Core Accepted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3185" y="5272980"/>
            <a:ext cx="1946969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0E7490"/>
                </a:solidFill>
                <a:latin typeface="Plus Jakarta Sans ExtraBold"/>
              </a:rPr>
              <a:t>GATE 4 • MID-2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3185" y="5415855"/>
            <a:ext cx="194696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Plus Jakarta Sans SemiBold"/>
              </a:rPr>
              <a:t>Audit Engine + HMAC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4005" y="5272980"/>
            <a:ext cx="194682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0E7490"/>
                </a:solidFill>
                <a:latin typeface="Plus Jakarta Sans ExtraBold"/>
              </a:rPr>
              <a:t>GATE 5 • FINAL-2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4005" y="5415855"/>
            <a:ext cx="194682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Plus Jakarta Sans SemiBold"/>
              </a:rPr>
              <a:t>Field UAT &amp; Deployment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" y="2272605"/>
            <a:ext cx="676275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6275" y="2510730"/>
            <a:ext cx="338042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 ExtraBold"/>
              </a:rPr>
              <a:t>Talal Shahid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" y="272980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0E7490"/>
                </a:solidFill>
                <a:latin typeface="Plus Jakarta Sans SemiBold"/>
              </a:rPr>
              <a:t>CV &amp; Machine Learning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3129855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OpenCV tabular cell segmentation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3391792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Perspective &amp; shadow deskewing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3653730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TrOCR / CRNN sequence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" y="3915667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Statistical confidence calibration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6275" y="2272605"/>
            <a:ext cx="704850" cy="1809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86275" y="2510730"/>
            <a:ext cx="338042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 ExtraBold"/>
              </a:rPr>
              <a:t>Irbaz Ali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6275" y="272980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0E7490"/>
                </a:solidFill>
                <a:latin typeface="Plus Jakarta Sans SemiBold"/>
              </a:rPr>
              <a:t>Full-Stack &amp;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0" y="3129855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Next.js high-throughput verification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0" y="3391792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FastAPI backend orchestration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7250" y="3653730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Role-Based Access Control (RBAC)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7250" y="3915667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Platform security integration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96275" y="2272605"/>
            <a:ext cx="704850" cy="1809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96275" y="2510730"/>
            <a:ext cx="338042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 ExtraBold"/>
              </a:rPr>
              <a:t>Muhammad Ibrahim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6275" y="2729805"/>
            <a:ext cx="3219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0E7490"/>
                </a:solidFill>
                <a:latin typeface="Plus Jakarta Sans SemiBold"/>
              </a:rPr>
              <a:t>Database, Audit Logic &amp; HITL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0" y="3129855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PostgreSQL double-entry schema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7250" y="3391792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Row-level HMAC cryptographic signing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250" y="3653730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HITL engine &amp; routing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7250" y="3915667"/>
            <a:ext cx="3038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Continuous local fine-tuning worker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3153667"/>
            <a:ext cx="104775" cy="1238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3415605"/>
            <a:ext cx="104775" cy="1238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3677542"/>
            <a:ext cx="104775" cy="1238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3939480"/>
            <a:ext cx="104775" cy="1238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6275" y="3153667"/>
            <a:ext cx="104775" cy="1238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6275" y="3415605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6275" y="3677542"/>
            <a:ext cx="104775" cy="1238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6275" y="3939480"/>
            <a:ext cx="104775" cy="1238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6275" y="3153667"/>
            <a:ext cx="104775" cy="12382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6275" y="3415605"/>
            <a:ext cx="104775" cy="12382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6275" y="3677542"/>
            <a:ext cx="104775" cy="12382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6275" y="3939480"/>
            <a:ext cx="1047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5" y="486667"/>
            <a:ext cx="23336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971752"/>
            <a:ext cx="1123950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259508"/>
            <a:ext cx="3594050" cy="24836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8900" y="2259508"/>
            <a:ext cx="3594050" cy="248364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550" y="2259508"/>
            <a:ext cx="3594199" cy="24836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4505325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E7490"/>
                </a:solidFill>
                <a:latin typeface="Plus Jakarta Sans"/>
              </a:rPr>
              <a:t>Slide 10 • Compliance &amp; 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571500"/>
            <a:ext cx="4730591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DEI, Ethical, and Legal Governance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567630"/>
            <a:ext cx="10477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7450" y="5128914"/>
            <a:ext cx="52482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34155"/>
                </a:solidFill>
                <a:latin typeface="Plus Jakarta Sans"/>
              </a:rPr>
              <a:t>SDG 8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(Decent Work &amp; Economic Growth) • </a:t>
            </a:r>
            <a:r>
              <a:rPr b="1" sz="1012" i="0" u="none">
                <a:solidFill>
                  <a:srgbClr val="334155"/>
                </a:solidFill>
                <a:latin typeface="Plus Jakarta Sans"/>
              </a:rPr>
              <a:t>SDG 9</a:t>
            </a:r>
            <a:r>
              <a:rPr b="0" sz="1012" i="0" u="none">
                <a:solidFill>
                  <a:srgbClr val="334155"/>
                </a:solidFill>
                <a:latin typeface="Plus Jakarta Sans"/>
              </a:rPr>
              <a:t> (Industry, Innovation &amp; Infrastructure)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2497633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3126283"/>
            <a:ext cx="32736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DEI Accessibility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3469183"/>
            <a:ext cx="31178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Plus Jakarta Sans"/>
              </a:rPr>
              <a:t>Designed specifically for semi-literate bookkeepers and traditional merchants. Minimalist Urdu-first UI ensures digital empowerment across varied socio-economic demographics without requiring English literacy.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7025" y="2497633"/>
            <a:ext cx="51435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7025" y="3126283"/>
            <a:ext cx="327369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Ethical Data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7025" y="3469183"/>
            <a:ext cx="31178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Plus Jakarta Sans"/>
              </a:rPr>
              <a:t>Explicit informed consent protocols for all gathered ledger samples. Strict de-identification of customer identities before local fine-tuning to protect wholesale commercial trade secrets.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9675" y="2497633"/>
            <a:ext cx="514350" cy="514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59675" y="3126283"/>
            <a:ext cx="32738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Legal &amp; Privacy Sovereignty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675" y="3469183"/>
            <a:ext cx="3117949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Plus Jakarta Sans"/>
              </a:rPr>
              <a:t>Zero telemetry or cloud exfiltration. Compliant with local electronic transaction regulations and data-residency standards through sealed on-premise local Docker containers.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5114627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9650" y="5124152"/>
            <a:ext cx="2790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UN Sustainable Development Goals (SDGs):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2621458"/>
            <a:ext cx="266700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7512" y="2621458"/>
            <a:ext cx="333375" cy="2667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0163" y="2621458"/>
            <a:ext cx="33337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344167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1625" y="3258442"/>
            <a:ext cx="101441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https://asianews.network/wp-content/uploads/bfi_thumb/AFP__20251125__86424T3__v2__MidRes__PakistanEconomyBankingDigital-7psq1quq3x3k1wg93vkn9ql3uis39kyvllnkscieo1s.jpg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677542"/>
            <a:ext cx="10144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asianews.network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81000"/>
            <a:ext cx="11715750" cy="306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